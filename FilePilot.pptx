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4B09393E-E95A-2892-0944-CF4396FD9A9B}">
          <p14:sldIdLst>
            <p14:sldId id="256"/>
          </p14:sldIdLst>
        </p14:section>
        <p14:section name="Default-1" id="{8A6E62E7-403E-F1AD-383D-F6977DE7AB71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5429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introduce FilePilot, a local-first file organizer and duplicate detector.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chemeClr val="accent5"/>
                </a:solidFill>
              </a:rPr>
              <a:t>FILEPILOT · FILE ORGANIZER &amp; DUPLICATE DETECTION</a:t>
            </a:r>
            <a:endParaRPr lang="en-US" sz="9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640080" y="594360"/>
            <a:ext cx="78638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1"/>
                </a:solidFill>
              </a:rPr>
              <a:t>COMPUTATIONAL THINKING &amp; PROGRAMMING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File Organizer &amp;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Duplicate File Detection Tool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799"/>
            <a:ext cx="6858000" cy="646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T. NAGA PRANAV – 2601150019</a:t>
            </a:r>
            <a:br>
              <a:rPr lang="en-US" sz="1600" dirty="0">
                <a:solidFill>
                  <a:schemeClr val="bg2"/>
                </a:solidFill>
              </a:rPr>
            </a:br>
            <a:br>
              <a:rPr lang="en-US" sz="1600" dirty="0">
                <a:solidFill>
                  <a:schemeClr val="bg2"/>
                </a:solidFill>
              </a:rPr>
            </a:br>
            <a:r>
              <a:rPr lang="en-US" sz="1600" dirty="0">
                <a:solidFill>
                  <a:schemeClr val="bg2"/>
                </a:solidFill>
              </a:rPr>
              <a:t>Computational Thinking and Programming</a:t>
            </a:r>
            <a:endParaRPr lang="en-US" sz="1600" dirty="0"/>
          </a:p>
        </p:txBody>
      </p:sp>
      <p:sp>
        <p:nvSpPr>
          <p:cNvPr id="5" name="chip0"/>
          <p:cNvSpPr/>
          <p:nvPr/>
        </p:nvSpPr>
        <p:spPr>
          <a:xfrm>
            <a:off x="640080" y="3840480"/>
            <a:ext cx="118872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8404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PYTHON</a:t>
            </a:r>
            <a:endParaRPr lang="en-US" sz="1100" dirty="0"/>
          </a:p>
        </p:txBody>
      </p:sp>
      <p:sp>
        <p:nvSpPr>
          <p:cNvPr id="7" name="chip1"/>
          <p:cNvSpPr/>
          <p:nvPr/>
        </p:nvSpPr>
        <p:spPr>
          <a:xfrm>
            <a:off x="1965960" y="3840480"/>
            <a:ext cx="118872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65960" y="38404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FLASK</a:t>
            </a:r>
            <a:endParaRPr lang="en-US" sz="1100" dirty="0"/>
          </a:p>
        </p:txBody>
      </p:sp>
      <p:sp>
        <p:nvSpPr>
          <p:cNvPr id="9" name="chip2"/>
          <p:cNvSpPr/>
          <p:nvPr/>
        </p:nvSpPr>
        <p:spPr>
          <a:xfrm>
            <a:off x="3291840" y="3840480"/>
            <a:ext cx="118872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38404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SQLITE</a:t>
            </a:r>
            <a:endParaRPr lang="en-US" sz="1100" dirty="0"/>
          </a:p>
        </p:txBody>
      </p:sp>
      <p:sp>
        <p:nvSpPr>
          <p:cNvPr id="11" name="chip3"/>
          <p:cNvSpPr/>
          <p:nvPr/>
        </p:nvSpPr>
        <p:spPr>
          <a:xfrm>
            <a:off x="4617720" y="3840480"/>
            <a:ext cx="118872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38404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SHA-256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640080" y="594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Why this tool?</a:t>
            </a:r>
            <a:endParaRPr lang="en-US" sz="3000" dirty="0"/>
          </a:p>
        </p:txBody>
      </p:sp>
      <p:sp>
        <p:nvSpPr>
          <p:cNvPr id="4" name="card0"/>
          <p:cNvSpPr/>
          <p:nvPr/>
        </p:nvSpPr>
        <p:spPr>
          <a:xfrm>
            <a:off x="640080" y="1371600"/>
            <a:ext cx="78638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5" name="bar0"/>
          <p:cNvSpPr/>
          <p:nvPr/>
        </p:nvSpPr>
        <p:spPr>
          <a:xfrm>
            <a:off x="640080" y="1463040"/>
            <a:ext cx="54864" cy="6400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3716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3716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Folders become cluttered with mixed file types and repeated copies.</a:t>
            </a:r>
            <a:endParaRPr lang="en-US" sz="1500" dirty="0"/>
          </a:p>
        </p:txBody>
      </p:sp>
      <p:sp>
        <p:nvSpPr>
          <p:cNvPr id="8" name="card1"/>
          <p:cNvSpPr/>
          <p:nvPr/>
        </p:nvSpPr>
        <p:spPr>
          <a:xfrm>
            <a:off x="640080" y="2304288"/>
            <a:ext cx="78638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9" name="bar1"/>
          <p:cNvSpPr/>
          <p:nvPr/>
        </p:nvSpPr>
        <p:spPr>
          <a:xfrm>
            <a:off x="640080" y="2395728"/>
            <a:ext cx="54864" cy="6400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304288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304288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Manual sorting takes time and accidental deletion can cause data loss.</a:t>
            </a:r>
            <a:endParaRPr lang="en-US" sz="1500" dirty="0"/>
          </a:p>
        </p:txBody>
      </p:sp>
      <p:sp>
        <p:nvSpPr>
          <p:cNvPr id="12" name="card2"/>
          <p:cNvSpPr/>
          <p:nvPr/>
        </p:nvSpPr>
        <p:spPr>
          <a:xfrm>
            <a:off x="640080" y="3236976"/>
            <a:ext cx="78638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13" name="bar2"/>
          <p:cNvSpPr/>
          <p:nvPr/>
        </p:nvSpPr>
        <p:spPr>
          <a:xfrm>
            <a:off x="640080" y="3328416"/>
            <a:ext cx="54864" cy="6400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236976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236976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Users need a clear inventory before they make changes.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PROJECT GOALS</a:t>
            </a:r>
            <a:endParaRPr lang="en-US" sz="110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640080" y="594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the system does</a:t>
            </a:r>
            <a:endParaRPr lang="en-US" sz="3000" dirty="0"/>
          </a:p>
        </p:txBody>
      </p:sp>
      <p:sp>
        <p:nvSpPr>
          <p:cNvPr id="4" name="card0"/>
          <p:cNvSpPr/>
          <p:nvPr/>
        </p:nvSpPr>
        <p:spPr>
          <a:xfrm>
            <a:off x="640080" y="1371600"/>
            <a:ext cx="7863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5" name="bar0"/>
          <p:cNvSpPr/>
          <p:nvPr/>
        </p:nvSpPr>
        <p:spPr>
          <a:xfrm>
            <a:off x="640080" y="1463040"/>
            <a:ext cx="5486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37160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3716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Scan a selected folder and summarize file count and total size.</a:t>
            </a:r>
            <a:endParaRPr lang="en-US" sz="1500" dirty="0"/>
          </a:p>
        </p:txBody>
      </p:sp>
      <p:sp>
        <p:nvSpPr>
          <p:cNvPr id="8" name="card1"/>
          <p:cNvSpPr/>
          <p:nvPr/>
        </p:nvSpPr>
        <p:spPr>
          <a:xfrm>
            <a:off x="640080" y="2167128"/>
            <a:ext cx="7863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9" name="bar1"/>
          <p:cNvSpPr/>
          <p:nvPr/>
        </p:nvSpPr>
        <p:spPr>
          <a:xfrm>
            <a:off x="640080" y="2258568"/>
            <a:ext cx="5486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167128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167128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Detect exact duplicates by file size and SHA-256 content hash.</a:t>
            </a:r>
            <a:endParaRPr lang="en-US" sz="1500" dirty="0"/>
          </a:p>
        </p:txBody>
      </p:sp>
      <p:sp>
        <p:nvSpPr>
          <p:cNvPr id="12" name="card2"/>
          <p:cNvSpPr/>
          <p:nvPr/>
        </p:nvSpPr>
        <p:spPr>
          <a:xfrm>
            <a:off x="640080" y="2962656"/>
            <a:ext cx="7863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13" name="bar2"/>
          <p:cNvSpPr/>
          <p:nvPr/>
        </p:nvSpPr>
        <p:spPr>
          <a:xfrm>
            <a:off x="640080" y="3054096"/>
            <a:ext cx="5486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2962656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962656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Group top-level files into category folders with a preview-first workflow.</a:t>
            </a:r>
            <a:endParaRPr lang="en-US" sz="1500" dirty="0"/>
          </a:p>
        </p:txBody>
      </p:sp>
      <p:sp>
        <p:nvSpPr>
          <p:cNvPr id="16" name="card3"/>
          <p:cNvSpPr/>
          <p:nvPr/>
        </p:nvSpPr>
        <p:spPr>
          <a:xfrm>
            <a:off x="640080" y="3758184"/>
            <a:ext cx="7863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17" name="bar3"/>
          <p:cNvSpPr/>
          <p:nvPr/>
        </p:nvSpPr>
        <p:spPr>
          <a:xfrm>
            <a:off x="640080" y="3849624"/>
            <a:ext cx="5486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3758184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3758184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Show file distribution and extension charts in a responsive dashboard.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FEATURES</a:t>
            </a:r>
            <a:endParaRPr lang="en-US" sz="110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640080" y="594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Core capabilities</a:t>
            </a:r>
            <a:endParaRPr lang="en-US" sz="3000" dirty="0"/>
          </a:p>
        </p:txBody>
      </p:sp>
      <p:sp>
        <p:nvSpPr>
          <p:cNvPr id="4" name="card0"/>
          <p:cNvSpPr/>
          <p:nvPr/>
        </p:nvSpPr>
        <p:spPr>
          <a:xfrm>
            <a:off x="640080" y="1371600"/>
            <a:ext cx="7863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5" name="bar0"/>
          <p:cNvSpPr/>
          <p:nvPr/>
        </p:nvSpPr>
        <p:spPr>
          <a:xfrm>
            <a:off x="640080" y="1463040"/>
            <a:ext cx="5486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37160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3716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File inventory with name, path, extension, size, and modified time.</a:t>
            </a:r>
            <a:endParaRPr lang="en-US" sz="1500" dirty="0"/>
          </a:p>
        </p:txBody>
      </p:sp>
      <p:sp>
        <p:nvSpPr>
          <p:cNvPr id="8" name="card1"/>
          <p:cNvSpPr/>
          <p:nvPr/>
        </p:nvSpPr>
        <p:spPr>
          <a:xfrm>
            <a:off x="640080" y="2167128"/>
            <a:ext cx="7863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9" name="bar1"/>
          <p:cNvSpPr/>
          <p:nvPr/>
        </p:nvSpPr>
        <p:spPr>
          <a:xfrm>
            <a:off x="640080" y="2258568"/>
            <a:ext cx="5486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167128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167128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Duplicate groups with matching file paths and hash preview.</a:t>
            </a:r>
            <a:endParaRPr lang="en-US" sz="1500" dirty="0"/>
          </a:p>
        </p:txBody>
      </p:sp>
      <p:sp>
        <p:nvSpPr>
          <p:cNvPr id="12" name="card2"/>
          <p:cNvSpPr/>
          <p:nvPr/>
        </p:nvSpPr>
        <p:spPr>
          <a:xfrm>
            <a:off x="640080" y="2962656"/>
            <a:ext cx="7863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13" name="bar2"/>
          <p:cNvSpPr/>
          <p:nvPr/>
        </p:nvSpPr>
        <p:spPr>
          <a:xfrm>
            <a:off x="640080" y="3054096"/>
            <a:ext cx="5486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2962656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962656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Categories: Images, Documents, Audio, Video, Archives, Code, Other.</a:t>
            </a:r>
            <a:endParaRPr lang="en-US" sz="1500" dirty="0"/>
          </a:p>
        </p:txBody>
      </p:sp>
      <p:sp>
        <p:nvSpPr>
          <p:cNvPr id="16" name="card3"/>
          <p:cNvSpPr/>
          <p:nvPr/>
        </p:nvSpPr>
        <p:spPr>
          <a:xfrm>
            <a:off x="640080" y="3758184"/>
            <a:ext cx="7863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17" name="bar3"/>
          <p:cNvSpPr/>
          <p:nvPr/>
        </p:nvSpPr>
        <p:spPr>
          <a:xfrm>
            <a:off x="640080" y="3849624"/>
            <a:ext cx="5486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3758184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3758184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SQLite scan history and JSON scan endpoint for integration.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640080" y="594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How the parts connect</a:t>
            </a:r>
            <a:endParaRPr lang="en-US" sz="3000" dirty="0"/>
          </a:p>
        </p:txBody>
      </p:sp>
      <p:sp>
        <p:nvSpPr>
          <p:cNvPr id="4" name="card0"/>
          <p:cNvSpPr/>
          <p:nvPr/>
        </p:nvSpPr>
        <p:spPr>
          <a:xfrm>
            <a:off x="640080" y="1371600"/>
            <a:ext cx="7863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5" name="bar0"/>
          <p:cNvSpPr/>
          <p:nvPr/>
        </p:nvSpPr>
        <p:spPr>
          <a:xfrm>
            <a:off x="640080" y="1463040"/>
            <a:ext cx="5486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37160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3716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Browser dashboard → Flask application routes.</a:t>
            </a:r>
            <a:endParaRPr lang="en-US" sz="1500" dirty="0"/>
          </a:p>
        </p:txBody>
      </p:sp>
      <p:sp>
        <p:nvSpPr>
          <p:cNvPr id="8" name="card1"/>
          <p:cNvSpPr/>
          <p:nvPr/>
        </p:nvSpPr>
        <p:spPr>
          <a:xfrm>
            <a:off x="640080" y="2167128"/>
            <a:ext cx="7863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9" name="bar1"/>
          <p:cNvSpPr/>
          <p:nvPr/>
        </p:nvSpPr>
        <p:spPr>
          <a:xfrm>
            <a:off x="640080" y="2258568"/>
            <a:ext cx="5486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167128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167128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file_tools.py handles directory scanning, hashing, classification, and moves.</a:t>
            </a:r>
            <a:endParaRPr lang="en-US" sz="1500" dirty="0"/>
          </a:p>
        </p:txBody>
      </p:sp>
      <p:sp>
        <p:nvSpPr>
          <p:cNvPr id="12" name="card2"/>
          <p:cNvSpPr/>
          <p:nvPr/>
        </p:nvSpPr>
        <p:spPr>
          <a:xfrm>
            <a:off x="640080" y="2962656"/>
            <a:ext cx="7863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13" name="bar2"/>
          <p:cNvSpPr/>
          <p:nvPr/>
        </p:nvSpPr>
        <p:spPr>
          <a:xfrm>
            <a:off x="640080" y="3054096"/>
            <a:ext cx="5486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2962656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962656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SQLite stores recent scan summaries.</a:t>
            </a:r>
            <a:endParaRPr lang="en-US" sz="1500" dirty="0"/>
          </a:p>
        </p:txBody>
      </p:sp>
      <p:sp>
        <p:nvSpPr>
          <p:cNvPr id="16" name="card3"/>
          <p:cNvSpPr/>
          <p:nvPr/>
        </p:nvSpPr>
        <p:spPr>
          <a:xfrm>
            <a:off x="640080" y="3758184"/>
            <a:ext cx="7863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17" name="bar3"/>
          <p:cNvSpPr/>
          <p:nvPr/>
        </p:nvSpPr>
        <p:spPr>
          <a:xfrm>
            <a:off x="640080" y="3849624"/>
            <a:ext cx="5486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3758184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3758184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HTML/CSS and Chart.js render the interface and graphs.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ALGORITHM</a:t>
            </a:r>
            <a:endParaRPr lang="en-US" sz="110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640080" y="594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Duplicate detection flow</a:t>
            </a:r>
            <a:endParaRPr lang="en-US" sz="3000" dirty="0"/>
          </a:p>
        </p:txBody>
      </p:sp>
      <p:sp>
        <p:nvSpPr>
          <p:cNvPr id="4" name="card0"/>
          <p:cNvSpPr/>
          <p:nvPr/>
        </p:nvSpPr>
        <p:spPr>
          <a:xfrm>
            <a:off x="640080" y="1371600"/>
            <a:ext cx="7863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5" name="bar0"/>
          <p:cNvSpPr/>
          <p:nvPr/>
        </p:nvSpPr>
        <p:spPr>
          <a:xfrm>
            <a:off x="640080" y="1463040"/>
            <a:ext cx="5486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37160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3716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Traverse the selected directory and skip symbolic links.</a:t>
            </a:r>
            <a:endParaRPr lang="en-US" sz="1500" dirty="0"/>
          </a:p>
        </p:txBody>
      </p:sp>
      <p:sp>
        <p:nvSpPr>
          <p:cNvPr id="8" name="card1"/>
          <p:cNvSpPr/>
          <p:nvPr/>
        </p:nvSpPr>
        <p:spPr>
          <a:xfrm>
            <a:off x="640080" y="2167128"/>
            <a:ext cx="7863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9" name="bar1"/>
          <p:cNvSpPr/>
          <p:nvPr/>
        </p:nvSpPr>
        <p:spPr>
          <a:xfrm>
            <a:off x="640080" y="2258568"/>
            <a:ext cx="5486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167128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167128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Read each file in chunks and compute its SHA-256 hash.</a:t>
            </a:r>
            <a:endParaRPr lang="en-US" sz="1500" dirty="0"/>
          </a:p>
        </p:txBody>
      </p:sp>
      <p:sp>
        <p:nvSpPr>
          <p:cNvPr id="12" name="card2"/>
          <p:cNvSpPr/>
          <p:nvPr/>
        </p:nvSpPr>
        <p:spPr>
          <a:xfrm>
            <a:off x="640080" y="2962656"/>
            <a:ext cx="7863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13" name="bar2"/>
          <p:cNvSpPr/>
          <p:nvPr/>
        </p:nvSpPr>
        <p:spPr>
          <a:xfrm>
            <a:off x="640080" y="3054096"/>
            <a:ext cx="5486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2962656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962656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Group records by (file size, hash); groups with multiple entries are duplicates.</a:t>
            </a:r>
            <a:endParaRPr lang="en-US" sz="1500" dirty="0"/>
          </a:p>
        </p:txBody>
      </p:sp>
      <p:sp>
        <p:nvSpPr>
          <p:cNvPr id="16" name="card3"/>
          <p:cNvSpPr/>
          <p:nvPr/>
        </p:nvSpPr>
        <p:spPr>
          <a:xfrm>
            <a:off x="640080" y="3758184"/>
            <a:ext cx="7863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17" name="bar3"/>
          <p:cNvSpPr/>
          <p:nvPr/>
        </p:nvSpPr>
        <p:spPr>
          <a:xfrm>
            <a:off x="640080" y="3849624"/>
            <a:ext cx="5486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3758184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3758184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Sort groups by file size to highlight larger duplicate sets first.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ORGANIZATION</a:t>
            </a:r>
            <a:endParaRPr lang="en-US" sz="110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640080" y="594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Safe file sorting</a:t>
            </a:r>
            <a:endParaRPr lang="en-US" sz="3000" dirty="0"/>
          </a:p>
        </p:txBody>
      </p:sp>
      <p:sp>
        <p:nvSpPr>
          <p:cNvPr id="4" name="card0"/>
          <p:cNvSpPr/>
          <p:nvPr/>
        </p:nvSpPr>
        <p:spPr>
          <a:xfrm>
            <a:off x="640080" y="1371600"/>
            <a:ext cx="7863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5" name="bar0"/>
          <p:cNvSpPr/>
          <p:nvPr/>
        </p:nvSpPr>
        <p:spPr>
          <a:xfrm>
            <a:off x="640080" y="1463040"/>
            <a:ext cx="5486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37160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3716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Preview mode lists source and proposed destination without moving files.</a:t>
            </a:r>
            <a:endParaRPr lang="en-US" sz="1500" dirty="0"/>
          </a:p>
        </p:txBody>
      </p:sp>
      <p:sp>
        <p:nvSpPr>
          <p:cNvPr id="8" name="card1"/>
          <p:cNvSpPr/>
          <p:nvPr/>
        </p:nvSpPr>
        <p:spPr>
          <a:xfrm>
            <a:off x="640080" y="2167128"/>
            <a:ext cx="7863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9" name="bar1"/>
          <p:cNvSpPr/>
          <p:nvPr/>
        </p:nvSpPr>
        <p:spPr>
          <a:xfrm>
            <a:off x="640080" y="2258568"/>
            <a:ext cx="5486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167128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167128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Execute mode moves only files directly in the chosen folder.</a:t>
            </a:r>
            <a:endParaRPr lang="en-US" sz="1500" dirty="0"/>
          </a:p>
        </p:txBody>
      </p:sp>
      <p:sp>
        <p:nvSpPr>
          <p:cNvPr id="12" name="card2"/>
          <p:cNvSpPr/>
          <p:nvPr/>
        </p:nvSpPr>
        <p:spPr>
          <a:xfrm>
            <a:off x="640080" y="2962656"/>
            <a:ext cx="7863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13" name="bar2"/>
          <p:cNvSpPr/>
          <p:nvPr/>
        </p:nvSpPr>
        <p:spPr>
          <a:xfrm>
            <a:off x="640080" y="3054096"/>
            <a:ext cx="5486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2962656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962656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Files are categorized by extension; nested folders remain untouched.</a:t>
            </a:r>
            <a:endParaRPr lang="en-US" sz="1500" dirty="0"/>
          </a:p>
        </p:txBody>
      </p:sp>
      <p:sp>
        <p:nvSpPr>
          <p:cNvPr id="16" name="card3"/>
          <p:cNvSpPr/>
          <p:nvPr/>
        </p:nvSpPr>
        <p:spPr>
          <a:xfrm>
            <a:off x="640080" y="3758184"/>
            <a:ext cx="7863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17" name="bar3"/>
          <p:cNvSpPr/>
          <p:nvPr/>
        </p:nvSpPr>
        <p:spPr>
          <a:xfrm>
            <a:off x="640080" y="3849624"/>
            <a:ext cx="5486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3758184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3758184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Destination collisions get a numbered suffix; duplicates are never auto-deleted.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DASHBOARD</a:t>
            </a:r>
            <a:endParaRPr lang="en-US" sz="110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640080" y="594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Visual analytics</a:t>
            </a:r>
            <a:endParaRPr lang="en-US" sz="3000" dirty="0"/>
          </a:p>
        </p:txBody>
      </p:sp>
      <p:sp>
        <p:nvSpPr>
          <p:cNvPr id="4" name="card0"/>
          <p:cNvSpPr/>
          <p:nvPr/>
        </p:nvSpPr>
        <p:spPr>
          <a:xfrm>
            <a:off x="640080" y="1371600"/>
            <a:ext cx="7863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5" name="bar0"/>
          <p:cNvSpPr/>
          <p:nvPr/>
        </p:nvSpPr>
        <p:spPr>
          <a:xfrm>
            <a:off x="640080" y="1463040"/>
            <a:ext cx="5486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37160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3716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Summary cards show scanned files, total size, duplicate groups, and extra-copy bytes.</a:t>
            </a:r>
            <a:endParaRPr lang="en-US" sz="1500" dirty="0"/>
          </a:p>
        </p:txBody>
      </p:sp>
      <p:sp>
        <p:nvSpPr>
          <p:cNvPr id="8" name="card1"/>
          <p:cNvSpPr/>
          <p:nvPr/>
        </p:nvSpPr>
        <p:spPr>
          <a:xfrm>
            <a:off x="640080" y="2167128"/>
            <a:ext cx="7863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9" name="bar1"/>
          <p:cNvSpPr/>
          <p:nvPr/>
        </p:nvSpPr>
        <p:spPr>
          <a:xfrm>
            <a:off x="640080" y="2258568"/>
            <a:ext cx="5486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167128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167128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 doughnut chart shows category distribution.</a:t>
            </a:r>
            <a:endParaRPr lang="en-US" sz="1500" dirty="0"/>
          </a:p>
        </p:txBody>
      </p:sp>
      <p:sp>
        <p:nvSpPr>
          <p:cNvPr id="12" name="card2"/>
          <p:cNvSpPr/>
          <p:nvPr/>
        </p:nvSpPr>
        <p:spPr>
          <a:xfrm>
            <a:off x="640080" y="2962656"/>
            <a:ext cx="7863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13" name="bar2"/>
          <p:cNvSpPr/>
          <p:nvPr/>
        </p:nvSpPr>
        <p:spPr>
          <a:xfrm>
            <a:off x="640080" y="3054096"/>
            <a:ext cx="5486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2962656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962656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 bar chart shows the most common extensions.</a:t>
            </a:r>
            <a:endParaRPr lang="en-US" sz="1500" dirty="0"/>
          </a:p>
        </p:txBody>
      </p:sp>
      <p:sp>
        <p:nvSpPr>
          <p:cNvPr id="16" name="card3"/>
          <p:cNvSpPr/>
          <p:nvPr/>
        </p:nvSpPr>
        <p:spPr>
          <a:xfrm>
            <a:off x="640080" y="3758184"/>
            <a:ext cx="7863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17" name="bar3"/>
          <p:cNvSpPr/>
          <p:nvPr/>
        </p:nvSpPr>
        <p:spPr>
          <a:xfrm>
            <a:off x="640080" y="3849624"/>
            <a:ext cx="5486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3758184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3758184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 searchable inventory table helps locate scanned files quickly.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COMPUTATIONAL THINKING</a:t>
            </a:r>
            <a:endParaRPr lang="en-US" sz="110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640080" y="594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Problem-solving concepts</a:t>
            </a:r>
            <a:endParaRPr lang="en-US" sz="3000" dirty="0"/>
          </a:p>
        </p:txBody>
      </p:sp>
      <p:sp>
        <p:nvSpPr>
          <p:cNvPr id="4" name="card0"/>
          <p:cNvSpPr/>
          <p:nvPr/>
        </p:nvSpPr>
        <p:spPr>
          <a:xfrm>
            <a:off x="640080" y="1371600"/>
            <a:ext cx="7863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5" name="bar0"/>
          <p:cNvSpPr/>
          <p:nvPr/>
        </p:nvSpPr>
        <p:spPr>
          <a:xfrm>
            <a:off x="640080" y="1463040"/>
            <a:ext cx="5486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37160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3716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Decomposition: separate scan, hash, classify, visualize, organize, and history tasks.</a:t>
            </a:r>
            <a:endParaRPr lang="en-US" sz="1500" dirty="0"/>
          </a:p>
        </p:txBody>
      </p:sp>
      <p:sp>
        <p:nvSpPr>
          <p:cNvPr id="8" name="card1"/>
          <p:cNvSpPr/>
          <p:nvPr/>
        </p:nvSpPr>
        <p:spPr>
          <a:xfrm>
            <a:off x="640080" y="2167128"/>
            <a:ext cx="7863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9" name="bar1"/>
          <p:cNvSpPr/>
          <p:nvPr/>
        </p:nvSpPr>
        <p:spPr>
          <a:xfrm>
            <a:off x="640080" y="2258568"/>
            <a:ext cx="5486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167128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167128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Pattern recognition: matching hashes and sizes reveal exact copies.</a:t>
            </a:r>
            <a:endParaRPr lang="en-US" sz="1500" dirty="0"/>
          </a:p>
        </p:txBody>
      </p:sp>
      <p:sp>
        <p:nvSpPr>
          <p:cNvPr id="12" name="card2"/>
          <p:cNvSpPr/>
          <p:nvPr/>
        </p:nvSpPr>
        <p:spPr>
          <a:xfrm>
            <a:off x="640080" y="2962656"/>
            <a:ext cx="7863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13" name="bar2"/>
          <p:cNvSpPr/>
          <p:nvPr/>
        </p:nvSpPr>
        <p:spPr>
          <a:xfrm>
            <a:off x="640080" y="3054096"/>
            <a:ext cx="5486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2962656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962656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Abstraction: a compact file record captures the metadata needed by the dashboard.</a:t>
            </a:r>
            <a:endParaRPr lang="en-US" sz="1500" dirty="0"/>
          </a:p>
        </p:txBody>
      </p:sp>
      <p:sp>
        <p:nvSpPr>
          <p:cNvPr id="16" name="card3"/>
          <p:cNvSpPr/>
          <p:nvPr/>
        </p:nvSpPr>
        <p:spPr>
          <a:xfrm>
            <a:off x="640080" y="3758184"/>
            <a:ext cx="7863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17" name="bar3"/>
          <p:cNvSpPr/>
          <p:nvPr/>
        </p:nvSpPr>
        <p:spPr>
          <a:xfrm>
            <a:off x="640080" y="3849624"/>
            <a:ext cx="5486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3758184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3758184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Algorithm design: systematic traversal, hashing, grouping, and collision-safe destination planning.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TESTING</a:t>
            </a:r>
            <a:endParaRPr lang="en-US" sz="110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640080" y="594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Validation plan</a:t>
            </a:r>
            <a:endParaRPr lang="en-US" sz="3000" dirty="0"/>
          </a:p>
        </p:txBody>
      </p:sp>
      <p:sp>
        <p:nvSpPr>
          <p:cNvPr id="4" name="card0"/>
          <p:cNvSpPr/>
          <p:nvPr/>
        </p:nvSpPr>
        <p:spPr>
          <a:xfrm>
            <a:off x="640080" y="1371600"/>
            <a:ext cx="7863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5" name="bar0"/>
          <p:cNvSpPr/>
          <p:nvPr/>
        </p:nvSpPr>
        <p:spPr>
          <a:xfrm>
            <a:off x="640080" y="1463040"/>
            <a:ext cx="5486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37160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3716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Identical content in two files should produce one duplicate group.</a:t>
            </a:r>
            <a:endParaRPr lang="en-US" sz="1500" dirty="0"/>
          </a:p>
        </p:txBody>
      </p:sp>
      <p:sp>
        <p:nvSpPr>
          <p:cNvPr id="8" name="card1"/>
          <p:cNvSpPr/>
          <p:nvPr/>
        </p:nvSpPr>
        <p:spPr>
          <a:xfrm>
            <a:off x="640080" y="2167128"/>
            <a:ext cx="7863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9" name="bar1"/>
          <p:cNvSpPr/>
          <p:nvPr/>
        </p:nvSpPr>
        <p:spPr>
          <a:xfrm>
            <a:off x="640080" y="2258568"/>
            <a:ext cx="5486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167128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167128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Preview mode must leave the source folder unchanged.</a:t>
            </a:r>
            <a:endParaRPr lang="en-US" sz="1500" dirty="0"/>
          </a:p>
        </p:txBody>
      </p:sp>
      <p:sp>
        <p:nvSpPr>
          <p:cNvPr id="12" name="card2"/>
          <p:cNvSpPr/>
          <p:nvPr/>
        </p:nvSpPr>
        <p:spPr>
          <a:xfrm>
            <a:off x="640080" y="2962656"/>
            <a:ext cx="7863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13" name="bar2"/>
          <p:cNvSpPr/>
          <p:nvPr/>
        </p:nvSpPr>
        <p:spPr>
          <a:xfrm>
            <a:off x="640080" y="3054096"/>
            <a:ext cx="5486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2962656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962656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Execution mode should move a test file into its expected category.</a:t>
            </a:r>
            <a:endParaRPr lang="en-US" sz="1500" dirty="0"/>
          </a:p>
        </p:txBody>
      </p:sp>
      <p:sp>
        <p:nvSpPr>
          <p:cNvPr id="16" name="card3"/>
          <p:cNvSpPr/>
          <p:nvPr/>
        </p:nvSpPr>
        <p:spPr>
          <a:xfrm>
            <a:off x="640080" y="3758184"/>
            <a:ext cx="7863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17" name="bar3"/>
          <p:cNvSpPr/>
          <p:nvPr/>
        </p:nvSpPr>
        <p:spPr>
          <a:xfrm>
            <a:off x="640080" y="3849624"/>
            <a:ext cx="5486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3758184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3758184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Unknown extensions should map to Other; also test empty folders and name collisions.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LIMITATIONS &amp; SAFETY</a:t>
            </a:r>
            <a:endParaRPr lang="en-US" sz="110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640080" y="594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Designed for local use</a:t>
            </a:r>
            <a:endParaRPr lang="en-US" sz="3000" dirty="0"/>
          </a:p>
        </p:txBody>
      </p:sp>
      <p:sp>
        <p:nvSpPr>
          <p:cNvPr id="4" name="card0"/>
          <p:cNvSpPr/>
          <p:nvPr/>
        </p:nvSpPr>
        <p:spPr>
          <a:xfrm>
            <a:off x="640080" y="1371600"/>
            <a:ext cx="7863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5" name="bar0"/>
          <p:cNvSpPr/>
          <p:nvPr/>
        </p:nvSpPr>
        <p:spPr>
          <a:xfrm>
            <a:off x="640080" y="1463040"/>
            <a:ext cx="5486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37160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3716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Hashing reads all accessible file bytes and may take time on large folders.</a:t>
            </a:r>
            <a:endParaRPr lang="en-US" sz="1500" dirty="0"/>
          </a:p>
        </p:txBody>
      </p:sp>
      <p:sp>
        <p:nvSpPr>
          <p:cNvPr id="8" name="card1"/>
          <p:cNvSpPr/>
          <p:nvPr/>
        </p:nvSpPr>
        <p:spPr>
          <a:xfrm>
            <a:off x="640080" y="2167128"/>
            <a:ext cx="7863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9" name="bar1"/>
          <p:cNvSpPr/>
          <p:nvPr/>
        </p:nvSpPr>
        <p:spPr>
          <a:xfrm>
            <a:off x="640080" y="2258568"/>
            <a:ext cx="5486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167128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167128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Only exact byte-for-byte duplicates are detected; near-duplicates are out of scope.</a:t>
            </a:r>
            <a:endParaRPr lang="en-US" sz="1500" dirty="0"/>
          </a:p>
        </p:txBody>
      </p:sp>
      <p:sp>
        <p:nvSpPr>
          <p:cNvPr id="12" name="card2"/>
          <p:cNvSpPr/>
          <p:nvPr/>
        </p:nvSpPr>
        <p:spPr>
          <a:xfrm>
            <a:off x="640080" y="2962656"/>
            <a:ext cx="7863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13" name="bar2"/>
          <p:cNvSpPr/>
          <p:nvPr/>
        </p:nvSpPr>
        <p:spPr>
          <a:xfrm>
            <a:off x="640080" y="3054096"/>
            <a:ext cx="5486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2962656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962656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The app binds to localhost and should not be exposed publicly.</a:t>
            </a:r>
            <a:endParaRPr lang="en-US" sz="1500" dirty="0"/>
          </a:p>
        </p:txBody>
      </p:sp>
      <p:sp>
        <p:nvSpPr>
          <p:cNvPr id="16" name="card3"/>
          <p:cNvSpPr/>
          <p:nvPr/>
        </p:nvSpPr>
        <p:spPr>
          <a:xfrm>
            <a:off x="640080" y="3758184"/>
            <a:ext cx="7863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17" name="bar3"/>
          <p:cNvSpPr/>
          <p:nvPr/>
        </p:nvSpPr>
        <p:spPr>
          <a:xfrm>
            <a:off x="640080" y="3849624"/>
            <a:ext cx="5486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3758184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3758184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Back up important files and test on disposable sample data before executing moves.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RUN THE PROJECT</a:t>
            </a:r>
            <a:endParaRPr lang="en-US" sz="110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640080" y="594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Setup and launch</a:t>
            </a:r>
            <a:endParaRPr lang="en-US" sz="3000" dirty="0"/>
          </a:p>
        </p:txBody>
      </p:sp>
      <p:sp>
        <p:nvSpPr>
          <p:cNvPr id="4" name="card0"/>
          <p:cNvSpPr/>
          <p:nvPr/>
        </p:nvSpPr>
        <p:spPr>
          <a:xfrm>
            <a:off x="640080" y="1371600"/>
            <a:ext cx="7863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5" name="bar0"/>
          <p:cNvSpPr/>
          <p:nvPr/>
        </p:nvSpPr>
        <p:spPr>
          <a:xfrm>
            <a:off x="640080" y="1463040"/>
            <a:ext cx="5486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37160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44475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Install Python 3.10+ and run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691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500" dirty="0"/>
          </a:p>
        </p:txBody>
      </p:sp>
      <p:sp>
        <p:nvSpPr>
          <p:cNvPr id="9" name="card1"/>
          <p:cNvSpPr/>
          <p:nvPr/>
        </p:nvSpPr>
        <p:spPr>
          <a:xfrm>
            <a:off x="640080" y="2167128"/>
            <a:ext cx="7863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10" name="bar1"/>
          <p:cNvSpPr/>
          <p:nvPr/>
        </p:nvSpPr>
        <p:spPr>
          <a:xfrm>
            <a:off x="640080" y="2258568"/>
            <a:ext cx="5486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2167128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2402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Launch with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24871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app.py</a:t>
            </a:r>
            <a:endParaRPr lang="en-US" sz="1500" dirty="0"/>
          </a:p>
        </p:txBody>
      </p:sp>
      <p:sp>
        <p:nvSpPr>
          <p:cNvPr id="14" name="card2"/>
          <p:cNvSpPr/>
          <p:nvPr/>
        </p:nvSpPr>
        <p:spPr>
          <a:xfrm>
            <a:off x="640080" y="2962656"/>
            <a:ext cx="7863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15" name="bar2"/>
          <p:cNvSpPr/>
          <p:nvPr/>
        </p:nvSpPr>
        <p:spPr>
          <a:xfrm>
            <a:off x="640080" y="3054096"/>
            <a:ext cx="5486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2962656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03580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Open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28269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http://127.0.0.1:5000</a:t>
            </a:r>
            <a:endParaRPr lang="en-US" sz="1500" dirty="0"/>
          </a:p>
        </p:txBody>
      </p:sp>
      <p:sp>
        <p:nvSpPr>
          <p:cNvPr id="19" name="card3"/>
          <p:cNvSpPr/>
          <p:nvPr/>
        </p:nvSpPr>
        <p:spPr>
          <a:xfrm>
            <a:off x="640080" y="3758184"/>
            <a:ext cx="7863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20" name="bar3"/>
          <p:cNvSpPr/>
          <p:nvPr/>
        </p:nvSpPr>
        <p:spPr>
          <a:xfrm>
            <a:off x="640080" y="3849624"/>
            <a:ext cx="54864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3758184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383133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Run tests with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407822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unittest discover -s tests -v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WRAP-UP</a:t>
            </a:r>
            <a:endParaRPr lang="en-US" sz="110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640080" y="594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Conclusion and future work</a:t>
            </a:r>
            <a:endParaRPr lang="en-US" sz="3000" dirty="0"/>
          </a:p>
        </p:txBody>
      </p:sp>
      <p:sp>
        <p:nvSpPr>
          <p:cNvPr id="4" name="card0"/>
          <p:cNvSpPr/>
          <p:nvPr/>
        </p:nvSpPr>
        <p:spPr>
          <a:xfrm>
            <a:off x="640080" y="1371600"/>
            <a:ext cx="78638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5" name="bar0"/>
          <p:cNvSpPr/>
          <p:nvPr/>
        </p:nvSpPr>
        <p:spPr>
          <a:xfrm>
            <a:off x="640080" y="1463040"/>
            <a:ext cx="54864" cy="6400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3716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3716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The project combines filesystem automation, hashing, data summaries, and a visual interface.</a:t>
            </a:r>
            <a:endParaRPr lang="en-US" sz="1500" dirty="0"/>
          </a:p>
        </p:txBody>
      </p:sp>
      <p:sp>
        <p:nvSpPr>
          <p:cNvPr id="8" name="card1"/>
          <p:cNvSpPr/>
          <p:nvPr/>
        </p:nvSpPr>
        <p:spPr>
          <a:xfrm>
            <a:off x="640080" y="2304288"/>
            <a:ext cx="78638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9" name="bar1"/>
          <p:cNvSpPr/>
          <p:nvPr/>
        </p:nvSpPr>
        <p:spPr>
          <a:xfrm>
            <a:off x="640080" y="2395728"/>
            <a:ext cx="54864" cy="6400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304288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304288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It prioritizes user awareness and confirmation over automatic destructive cleanup.</a:t>
            </a:r>
            <a:endParaRPr lang="en-US" sz="1500" dirty="0"/>
          </a:p>
        </p:txBody>
      </p:sp>
      <p:sp>
        <p:nvSpPr>
          <p:cNvPr id="12" name="card2"/>
          <p:cNvSpPr/>
          <p:nvPr/>
        </p:nvSpPr>
        <p:spPr>
          <a:xfrm>
            <a:off x="640080" y="3236976"/>
            <a:ext cx="78638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635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13" name="bar2"/>
          <p:cNvSpPr/>
          <p:nvPr/>
        </p:nvSpPr>
        <p:spPr>
          <a:xfrm>
            <a:off x="640080" y="3328416"/>
            <a:ext cx="54864" cy="6400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236976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236976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Future work: reversible move log, export reports, background scans, filters, and near-duplicate image analysis.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lePilot">
  <a:themeElements>
    <a:clrScheme name="FilePilot">
      <a:dk1>
        <a:srgbClr val="0F1B2D"/>
      </a:dk1>
      <a:lt1>
        <a:srgbClr val="FFFFFF"/>
      </a:lt1>
      <a:dk2>
        <a:srgbClr val="134E4A"/>
      </a:dk2>
      <a:lt2>
        <a:srgbClr val="F4F7FB"/>
      </a:lt2>
      <a:accent1>
        <a:srgbClr val="0D9488"/>
      </a:accent1>
      <a:accent2>
        <a:srgbClr val="4F46E5"/>
      </a:accent2>
      <a:accent3>
        <a:srgbClr val="F59E0B"/>
      </a:accent3>
      <a:accent4>
        <a:srgbClr val="0EA5E9"/>
      </a:accent4>
      <a:accent5>
        <a:srgbClr val="64748B"/>
      </a:accent5>
      <a:accent6>
        <a:srgbClr val="DB2777"/>
      </a:accent6>
      <a:hlink>
        <a:srgbClr val="0D9488"/>
      </a:hlink>
      <a:folHlink>
        <a:srgbClr val="4F46E5"/>
      </a:folHlink>
    </a:clrScheme>
    <a:fontScheme name="FilePilo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714</Words>
  <Application>Microsoft Office PowerPoint</Application>
  <PresentationFormat>On-screen Show (16:9)</PresentationFormat>
  <Paragraphs>154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FilePilot</vt:lpstr>
      <vt:lpstr>PowerPoint Presentation</vt:lpstr>
      <vt:lpstr>Why this tool?</vt:lpstr>
      <vt:lpstr>What the system does</vt:lpstr>
      <vt:lpstr>Core capabilities</vt:lpstr>
      <vt:lpstr>How the parts connect</vt:lpstr>
      <vt:lpstr>Duplicate detection flow</vt:lpstr>
      <vt:lpstr>Safe file sorting</vt:lpstr>
      <vt:lpstr>Visual analytics</vt:lpstr>
      <vt:lpstr>Problem-solving concepts</vt:lpstr>
      <vt:lpstr>Validation plan</vt:lpstr>
      <vt:lpstr>Designed for local use</vt:lpstr>
      <vt:lpstr>Setup and launch</vt:lpstr>
      <vt:lpstr>Conclusion and future work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FilePilot – File Organizer &amp; Duplicate File Detection Tool</dc:title>
  <dc:subject>PptxGenJS Presentation</dc:subject>
  <dc:creator>PptxGenJS</dc:creator>
  <cp:lastModifiedBy>TUMMALAPALLI NAGA PRANAV</cp:lastModifiedBy>
  <cp:revision>2</cp:revision>
  <dcterms:created xsi:type="dcterms:W3CDTF">2026-10-13T09:13:23Z</dcterms:created>
  <dcterms:modified xsi:type="dcterms:W3CDTF">2026-10-13T09:33:24Z</dcterms:modified>
</cp:coreProperties>
</file>